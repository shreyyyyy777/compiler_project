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c28d93665a4131" /><Relationship Type="http://schemas.openxmlformats.org/officeDocument/2006/relationships/extended-properties" Target="/docProps/app.xml" Id="R199a61c0244f482e" /><Relationship Type="http://schemas.openxmlformats.org/officeDocument/2006/relationships/officeDocument" Target="/ppt/presentation.xml" Id="R12fbdbe1fc6b47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8f9c8e83bb45c9"/>
  </p:sldMasterIdLst>
  <p:notesMasterIdLst>
    <p:notesMasterId xmlns:r="http://schemas.openxmlformats.org/officeDocument/2006/relationships" r:id="Reab3fa41e53c4061"/>
  </p:notesMasterIdLst>
  <p:sldIdLst>
    <p:sldId xmlns:r="http://schemas.openxmlformats.org/officeDocument/2006/relationships" id="256" r:id="R1fd0d47b03664da2"/>
    <p:sldId xmlns:r="http://schemas.openxmlformats.org/officeDocument/2006/relationships" id="257" r:id="R2c6395fbebe342c1"/>
    <p:sldId xmlns:r="http://schemas.openxmlformats.org/officeDocument/2006/relationships" id="258" r:id="R20707e5b356b45ac"/>
    <p:sldId xmlns:r="http://schemas.openxmlformats.org/officeDocument/2006/relationships" id="259" r:id="R3cea2089f60e41f8"/>
    <p:sldId xmlns:r="http://schemas.openxmlformats.org/officeDocument/2006/relationships" id="260" r:id="R7402aebed20148db"/>
    <p:sldId xmlns:r="http://schemas.openxmlformats.org/officeDocument/2006/relationships" id="261" r:id="R2d104ac950cb4159"/>
    <p:sldId xmlns:r="http://schemas.openxmlformats.org/officeDocument/2006/relationships" id="262" r:id="Rf674d3da40b64f89"/>
    <p:sldId xmlns:r="http://schemas.openxmlformats.org/officeDocument/2006/relationships" id="263" r:id="R130338b337ab4b24"/>
    <p:sldId xmlns:r="http://schemas.openxmlformats.org/officeDocument/2006/relationships" id="264" r:id="R76f2864ca2fc4ea1"/>
    <p:sldId xmlns:r="http://schemas.openxmlformats.org/officeDocument/2006/relationships" id="265" r:id="R1dddf0ee38044bef"/>
    <p:sldId xmlns:r="http://schemas.openxmlformats.org/officeDocument/2006/relationships" id="266" r:id="R1ab5d706bcb448b5"/>
    <p:sldId xmlns:r="http://schemas.openxmlformats.org/officeDocument/2006/relationships" id="267" r:id="Rd8d297925d9145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39ad7f32b64030" /><Relationship Type="http://schemas.openxmlformats.org/officeDocument/2006/relationships/slideMaster" Target="/ppt/slideMasters/slideMaster1.xml" Id="R228f9c8e83bb45c9" /><Relationship Type="http://schemas.openxmlformats.org/officeDocument/2006/relationships/notesMaster" Target="/ppt/notesMasters/notesMaster1.xml" Id="Reab3fa41e53c4061" /><Relationship Type="http://schemas.openxmlformats.org/officeDocument/2006/relationships/presProps" Target="/ppt/presProps.xml" Id="Rcce88aee91b34ad1" /><Relationship Type="http://schemas.openxmlformats.org/officeDocument/2006/relationships/tableStyles" Target="/ppt/tableStyles.xml" Id="R78f37d15775246b8" /><Relationship Type="http://schemas.openxmlformats.org/officeDocument/2006/relationships/slide" Target="/ppt/slides/slide1.xml" Id="R1fd0d47b03664da2" /><Relationship Type="http://schemas.openxmlformats.org/officeDocument/2006/relationships/slide" Target="/ppt/slides/slide2.xml" Id="R2c6395fbebe342c1" /><Relationship Type="http://schemas.openxmlformats.org/officeDocument/2006/relationships/slide" Target="/ppt/slides/slide3.xml" Id="R20707e5b356b45ac" /><Relationship Type="http://schemas.openxmlformats.org/officeDocument/2006/relationships/slide" Target="/ppt/slides/slide4.xml" Id="R3cea2089f60e41f8" /><Relationship Type="http://schemas.openxmlformats.org/officeDocument/2006/relationships/slide" Target="/ppt/slides/slide5.xml" Id="R7402aebed20148db" /><Relationship Type="http://schemas.openxmlformats.org/officeDocument/2006/relationships/slide" Target="/ppt/slides/slide6.xml" Id="R2d104ac950cb4159" /><Relationship Type="http://schemas.openxmlformats.org/officeDocument/2006/relationships/slide" Target="/ppt/slides/slide7.xml" Id="Rf674d3da40b64f89" /><Relationship Type="http://schemas.openxmlformats.org/officeDocument/2006/relationships/slide" Target="/ppt/slides/slide8.xml" Id="R130338b337ab4b24" /><Relationship Type="http://schemas.openxmlformats.org/officeDocument/2006/relationships/slide" Target="/ppt/slides/slide9.xml" Id="R76f2864ca2fc4ea1" /><Relationship Type="http://schemas.openxmlformats.org/officeDocument/2006/relationships/slide" Target="/ppt/slides/slide10.xml" Id="R1dddf0ee38044bef" /><Relationship Type="http://schemas.openxmlformats.org/officeDocument/2006/relationships/slide" Target="/ppt/slides/slide11.xml" Id="R1ab5d706bcb448b5" /><Relationship Type="http://schemas.openxmlformats.org/officeDocument/2006/relationships/slide" Target="/ppt/slides/slide12.xml" Id="Rd8d297925d9145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1dba97cff446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b265bd12574fb3" /><Relationship Type="http://schemas.openxmlformats.org/officeDocument/2006/relationships/notesMaster" Target="/ppt/notesMasters/notesMaster1.xml" Id="R6d1097b5e0144c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6280e079ff4f6d" /><Relationship Type="http://schemas.openxmlformats.org/officeDocument/2006/relationships/notesMaster" Target="/ppt/notesMasters/notesMaster1.xml" Id="Rc985ab89d06f46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b3f05af2fd4cac" /><Relationship Type="http://schemas.openxmlformats.org/officeDocument/2006/relationships/notesMaster" Target="/ppt/notesMasters/notesMaster1.xml" Id="Rd4df5513623043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68b97e5d384697" /><Relationship Type="http://schemas.openxmlformats.org/officeDocument/2006/relationships/notesMaster" Target="/ppt/notesMasters/notesMaster1.xml" Id="Rc12a1aa2ba4b47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e8831a44ae4c9c" /><Relationship Type="http://schemas.openxmlformats.org/officeDocument/2006/relationships/notesMaster" Target="/ppt/notesMasters/notesMaster1.xml" Id="Rb8facb41194443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37a51fbb8f437e" /><Relationship Type="http://schemas.openxmlformats.org/officeDocument/2006/relationships/notesMaster" Target="/ppt/notesMasters/notesMaster1.xml" Id="Rc2558daa687e46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e8cd16c3354f81" /><Relationship Type="http://schemas.openxmlformats.org/officeDocument/2006/relationships/notesMaster" Target="/ppt/notesMasters/notesMaster1.xml" Id="Rbd69fe3220cf4c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5748b4b3b44455" /><Relationship Type="http://schemas.openxmlformats.org/officeDocument/2006/relationships/notesMaster" Target="/ppt/notesMasters/notesMaster1.xml" Id="Ref1a51c9e72c46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942626778f4bcb" /><Relationship Type="http://schemas.openxmlformats.org/officeDocument/2006/relationships/notesMaster" Target="/ppt/notesMasters/notesMaster1.xml" Id="R9c21f6eeb37b41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41184bf1d54d69" /><Relationship Type="http://schemas.openxmlformats.org/officeDocument/2006/relationships/notesMaster" Target="/ppt/notesMasters/notesMaster1.xml" Id="R41edc039d7f64e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dabfd6b0fd4d4a" /><Relationship Type="http://schemas.openxmlformats.org/officeDocument/2006/relationships/notesMaster" Target="/ppt/notesMasters/notesMaster1.xml" Id="R5cf3c15f57274f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45e7c79f844a23" /><Relationship Type="http://schemas.openxmlformats.org/officeDocument/2006/relationships/notesMaster" Target="/ppt/notesMasters/notesMaster1.xml" Id="Rb4f4084398ec49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review outcome: V2 is functionally broader and verified, but the fair benchmark also exposed a real matching-speed regression.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git log in /Users/shrey/Documents/compiler/project</a:t>
            </a:r>
          </a:p>
          <a:p xmlns:a="http://schemas.openxmlformats.org/drawingml/2006/main">
            <a:r>
              <a:t>- local pytest run on commit d09673e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V2 as faster. The comparison shows equal automaton state counts and nearly flat RSS, but materially higher per-character matching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benchmarks/review_2026_10_27/v1_v2_comparison.json</a:t>
            </a:r>
          </a:p>
          <a:p xmlns:a="http://schemas.openxmlformats.org/drawingml/2006/main">
            <a:r>
              <a:t>- docs/V2_SEMANTICS.md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normal matching never needs complete determinization. The complete DFA exists for minimization and analysis, and its budgets are intentionally tighter.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regex_engine/parser.py</a:t>
            </a:r>
          </a:p>
          <a:p xmlns:a="http://schemas.openxmlformats.org/drawingml/2006/main">
            <a:r>
              <a:t>- regex_engine/nfa.py</a:t>
            </a:r>
          </a:p>
          <a:p xmlns:a="http://schemas.openxmlformats.org/drawingml/2006/main">
            <a:r>
              <a:t>- regex_engine/dfa.py</a:t>
            </a:r>
          </a:p>
          <a:p xmlns:a="http://schemas.openxmlformats.org/drawingml/2006/main">
            <a:r>
              <a:t>- regex_engine/matcher.py</a:t>
            </a:r>
          </a:p>
          <a:p xmlns:a="http://schemas.openxmlformats.org/drawingml/2006/main">
            <a:r>
              <a:t>- regex_engine/simulation.py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right-hand column to explain implementation semantics, not just syntax examples. Numeric quantifiers expand into Thompson fragments and are protected by state budgets.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docs/V2_SEMANTICS.md</a:t>
            </a:r>
          </a:p>
          <a:p xmlns:a="http://schemas.openxmlformats.org/drawingml/2006/main">
            <a:r>
              <a:t>- regex_engine/parser.py</a:t>
            </a:r>
          </a:p>
          <a:p xmlns:a="http://schemas.openxmlformats.org/drawingml/2006/main">
            <a:r>
              <a:t>- regex_engine/nfa.py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final callout to the benchmark result. The language and algorithms are correct; the generalized signature path is where an optimization should be evaluated.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regex_engine/dfa.py</a:t>
            </a:r>
          </a:p>
          <a:p xmlns:a="http://schemas.openxmlformats.org/drawingml/2006/main">
            <a:r>
              <a:t>- benchmarks/review_2026_10_27/v1_v2_comparison.json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shared syntax prevents an apples-to-oranges comparison. V2-only workloads are reported separately as feature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scripts/review_benchmark.py</a:t>
            </a:r>
          </a:p>
          <a:p xmlns:a="http://schemas.openxmlformats.org/drawingml/2006/main">
            <a:r>
              <a:t>- benchmarks/review_2026_10_27/v1_v2_comparison.json</a:t>
            </a:r>
          </a:p>
          <a:p xmlns:a="http://schemas.openxmlformats.org/drawingml/2006/main">
            <a:r>
              <a:t>- benchmarks/review_2026_10_27/v2_feature_workloads.json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ratios directly. Then explain that the measured penalty is on a warm lazy-DFA core path, not HTTP or trace formatting.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benchmarks/review_2026_10_27/v1_v2_comparison.json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RSS is a coarse peak measure that includes the interpreter and imports. The strongest conclusion is that V2 does not inflate the automaton state count on the shared workloads.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benchmarks/review_2026_10_27/v1_v2_comparison.json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partitions. D1 and D3 are indistinguishable; all four accepting states are indistinguishable; the dead state remains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scripts/dfa_minimization_demo.py</a:t>
            </a:r>
          </a:p>
          <a:p xmlns:a="http://schemas.openxmlformats.org/drawingml/2006/main">
            <a:r>
              <a:t>- review/DFA_MINIMIZATION_LIVE_DEMO.md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server is already running, open the Automaton tab, enter (ab|ac|db|dc), select DFA (lazy), then DFA (minimized). The drawing omits the dead state for readability but the count remains four.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review/assets/dashboard_lazy_dfa.jpg</a:t>
            </a:r>
          </a:p>
          <a:p xmlns:a="http://schemas.openxmlformats.org/drawingml/2006/main">
            <a:r>
              <a:t>- review/assets/dashboard_minimized_dfa.jpg</a:t>
            </a:r>
          </a:p>
          <a:p xmlns:a="http://schemas.openxmlformats.org/drawingml/2006/main">
            <a:r>
              <a:t>- review/DFA_MINIMIZATION_LIVE_DEMO.md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budgets are part of the semantics, not emergency afterthoughts. Large bounded quantifiers can expand the NFA substantially, while ordinary matching remains lazy.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docs/V2_SEMANTICS.md</a:t>
            </a:r>
          </a:p>
          <a:p xmlns:a="http://schemas.openxmlformats.org/drawingml/2006/main">
            <a:r>
              <a:t>- regex_engine/errors.py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precise decision: preserve the V2 feature set and tests, optimize the hot path, and use the same comparison script as the acceptance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review/Compiler_Design_Project_Review_Report.pdf</a:t>
            </a:r>
          </a:p>
          <a:p xmlns:a="http://schemas.openxmlformats.org/drawingml/2006/main">
            <a:r>
              <a:t>- benchmarks/review_2026_10_27/v1_v2_comparison.json</a:t>
            </a:r>
          </a:p>
          <a:p xmlns:a="http://schemas.openxmlformats.org/drawingml/2006/main">
            <a:r>
              <a:t>- review/DFA_MINIMIZATION_LIVE_DEMO.md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0fd8ebf8d4b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432ff04b849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1fdf6852049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359da7fdc4f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58b37ee5643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ac5398d5840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CC60FC-1061-4C68-A34D-420BF64232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7DC486-B094-453D-AD54-FEB53A6B18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4CC3F3-B3D9-4090-9EE1-9DFAC9C199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03EBAF-C498-4CBF-A8B2-B7AD190FD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ED0C85-0773-443D-A435-F9F61EAB8A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3B9B2B-E72B-4568-835B-A6F3494A8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1CACBF-7AFD-43EC-B325-5B111213D4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430E62-54B9-4992-ADFC-897973753F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2929DB-3144-412F-A045-5FEEC3E2D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BA9630-C97D-4266-B9DD-239CC2F33D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a72e77d5954287" /><Relationship Type="http://schemas.openxmlformats.org/officeDocument/2006/relationships/slideLayout" Target="/ppt/slideLayouts/slideLayout1.xml" Id="R9d169223e1094b1b" /><Relationship Type="http://schemas.openxmlformats.org/officeDocument/2006/relationships/slideLayout" Target="/ppt/slideLayouts/slideLayout2.xml" Id="R13da7af6bef54092" /><Relationship Type="http://schemas.openxmlformats.org/officeDocument/2006/relationships/slideLayout" Target="/ppt/slideLayouts/slideLayout3.xml" Id="R49fb1b6d5e924ca5" /><Relationship Type="http://schemas.openxmlformats.org/officeDocument/2006/relationships/slideLayout" Target="/ppt/slideLayouts/slideLayout4.xml" Id="Rb3837a45d47f4759" /><Relationship Type="http://schemas.openxmlformats.org/officeDocument/2006/relationships/slideLayout" Target="/ppt/slideLayouts/slideLayout5.xml" Id="R28210ff352264fbc" /><Relationship Type="http://schemas.openxmlformats.org/officeDocument/2006/relationships/slideLayout" Target="/ppt/slideLayouts/slideLayout6.xml" Id="Raab1513f3f4843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169223e1094b1b"/>
    <p:sldLayoutId xmlns:r="http://schemas.openxmlformats.org/officeDocument/2006/relationships" id="2147483650" r:id="R13da7af6bef54092"/>
    <p:sldLayoutId xmlns:r="http://schemas.openxmlformats.org/officeDocument/2006/relationships" id="2147483651" r:id="R49fb1b6d5e924ca5"/>
    <p:sldLayoutId xmlns:r="http://schemas.openxmlformats.org/officeDocument/2006/relationships" id="2147483652" r:id="Rb3837a45d47f4759"/>
    <p:sldLayoutId xmlns:r="http://schemas.openxmlformats.org/officeDocument/2006/relationships" id="2147483653" r:id="R28210ff352264fbc"/>
    <p:sldLayoutId xmlns:r="http://schemas.openxmlformats.org/officeDocument/2006/relationships" id="2147483654" r:id="Raab1513f3f4843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8f3bf877244b84" /><Relationship Type="http://schemas.openxmlformats.org/officeDocument/2006/relationships/notesSlide" Target="/ppt/notesSlides/notesSlide1.xml" Id="R3c5f2d97da8d43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29c2cb3789468a" /><Relationship Type="http://schemas.openxmlformats.org/officeDocument/2006/relationships/notesSlide" Target="/ppt/notesSlides/notesSlide2.xml" Id="R243f016c6ce340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b1c1f3427497c" /><Relationship Type="http://schemas.openxmlformats.org/officeDocument/2006/relationships/notesSlide" Target="/ppt/notesSlides/notesSlide3.xml" Id="R7ae4091f5f3a43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9abfef08742a0" /><Relationship Type="http://schemas.openxmlformats.org/officeDocument/2006/relationships/notesSlide" Target="/ppt/notesSlides/notesSlide4.xml" Id="Rf021412d55b842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20b487ebc4733" /><Relationship Type="http://schemas.openxmlformats.org/officeDocument/2006/relationships/notesSlide" Target="/ppt/notesSlides/notesSlide5.xml" Id="R0037b999393448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2cdf571914ce2" /><Relationship Type="http://schemas.openxmlformats.org/officeDocument/2006/relationships/notesSlide" Target="/ppt/notesSlides/notesSlide6.xml" Id="R914259fb648044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0afeb0c5f4eb4" /><Relationship Type="http://schemas.openxmlformats.org/officeDocument/2006/relationships/chart" Target="/ppt/slides/charts/chart1.xml" Id="R3ef90a5204ca4b2d" /><Relationship Type="http://schemas.openxmlformats.org/officeDocument/2006/relationships/notesSlide" Target="/ppt/notesSlides/notesSlide7.xml" Id="Raa08162e94f649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7869b0c2c24bb8" /><Relationship Type="http://schemas.openxmlformats.org/officeDocument/2006/relationships/chart" Target="/ppt/slides/charts/chart2.xml" Id="Rf7d868eb921d42d1" /><Relationship Type="http://schemas.openxmlformats.org/officeDocument/2006/relationships/chart" Target="/ppt/slides/charts/chart3.xml" Id="Ra48a71f5a7004c0f" /><Relationship Type="http://schemas.openxmlformats.org/officeDocument/2006/relationships/notesSlide" Target="/ppt/notesSlides/notesSlide8.xml" Id="Re0cded70d44740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752f452a346ac" /><Relationship Type="http://schemas.openxmlformats.org/officeDocument/2006/relationships/notesSlide" Target="/ppt/notesSlides/notesSlide9.xml" Id="R84ffb5c7c75e42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f1d2bcdbb4fa8" /><Relationship Type="http://schemas.openxmlformats.org/officeDocument/2006/relationships/image" Target="/ppt/media/image.jpeg" Id="Rc17a60078bb04ba0" /><Relationship Type="http://schemas.openxmlformats.org/officeDocument/2006/relationships/notesSlide" Target="/ppt/notesSlides/notesSlide10.xml" Id="R7736b624e11e46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2b2a4f4e824cdd" /><Relationship Type="http://schemas.openxmlformats.org/officeDocument/2006/relationships/notesSlide" Target="/ppt/notesSlides/notesSlide11.xml" Id="Rcbc262a8505c40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ff1d849cb24113" /><Relationship Type="http://schemas.openxmlformats.org/officeDocument/2006/relationships/notesSlide" Target="/ppt/notesSlides/notesSlide12.xml" Id="R1981f6550fa44d5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V1 09de2a6</c:v>
          </c:tx>
          <c:spPr>
            <a:solidFill xmlns:a="http://schemas.openxmlformats.org/drawingml/2006/main">
              <a:srgbClr val="4C7DFF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Suffix language</c:v>
                </c:pt>
                <c:pt idx="1">
                  <c:v>Wildcard scan</c:v>
                </c:pt>
                <c:pt idx="2">
                  <c:v>Alternation loop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0.453</c:v>
                </c:pt>
                <c:pt idx="1">
                  <c:v>0.41</c:v>
                </c:pt>
                <c:pt idx="2">
                  <c:v>0.417</c:v>
                </c:pt>
              </c:numCache>
            </c:numRef>
          </c:val>
        </c:ser>
        <c:ser>
          <c:idx val="1"/>
          <c:order val="1"/>
          <c:tx>
            <c:v>V2 d09673e</c:v>
          </c:tx>
          <c:spPr>
            <a:solidFill xmlns:a="http://schemas.openxmlformats.org/drawingml/2006/main">
              <a:srgbClr val="F59E0B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Suffix language</c:v>
                </c:pt>
                <c:pt idx="1">
                  <c:v>Wildcard scan</c:v>
                </c:pt>
                <c:pt idx="2">
                  <c:v>Alternation loop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1.563</c:v>
                </c:pt>
                <c:pt idx="1">
                  <c:v>1.866</c:v>
                </c:pt>
                <c:pt idx="2">
                  <c:v>1.671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F8FAF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AAB6C7"/>
                    </a:solidFill>
                    <a:latin typeface="Arial"/>
                    <a:ea typeface="Arial"/>
                    <a:cs typeface="Arial"/>
                  </a:rPr>
                  <a:t>Workload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AAB6C7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0445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AAB6C7"/>
                    </a:solidFill>
                    <a:latin typeface="Arial"/>
                    <a:ea typeface="Arial"/>
                    <a:cs typeface="Arial"/>
                  </a:rPr>
                  <a:t>Median matching time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AAB6C7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DCE7F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Median max RSS (MiB)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F8FAF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V1</c:v>
          </c:tx>
          <c:spPr>
            <a:solidFill xmlns:a="http://schemas.openxmlformats.org/drawingml/2006/main">
              <a:srgbClr val="4C7DFF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Suffix</c:v>
                </c:pt>
                <c:pt idx="1">
                  <c:v>Wildcard</c:v>
                </c:pt>
                <c:pt idx="2">
                  <c:v>Alternation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27.31</c:v>
                </c:pt>
                <c:pt idx="1">
                  <c:v>27.45</c:v>
                </c:pt>
                <c:pt idx="2">
                  <c:v>27.44</c:v>
                </c:pt>
              </c:numCache>
            </c:numRef>
          </c:val>
        </c:ser>
        <c:ser>
          <c:idx val="1"/>
          <c:order val="1"/>
          <c:tx>
            <c:v>V2</c:v>
          </c:tx>
          <c:spPr>
            <a:solidFill xmlns:a="http://schemas.openxmlformats.org/drawingml/2006/main">
              <a:srgbClr val="2DD4BF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Suffix</c:v>
                </c:pt>
                <c:pt idx="1">
                  <c:v>Wildcard</c:v>
                </c:pt>
                <c:pt idx="2">
                  <c:v>Alternation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27.39</c:v>
                </c:pt>
                <c:pt idx="1">
                  <c:v>27.39</c:v>
                </c:pt>
                <c:pt idx="2">
                  <c:v>27.41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F8FAF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7.7"/>
          <c:min val="27"/>
        </c:scaling>
        <c:delete val="0"/>
        <c:axPos val="l"/>
        <c:majorGridlines>
          <c:spPr>
            <a:ln xmlns:a="http://schemas.openxmlformats.org/drawingml/2006/main" w="9525">
              <a:solidFill>
                <a:srgbClr val="30445E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DCE7F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Warm lazy-DFA states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F8FAFC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V1</c:v>
          </c:tx>
          <c:spPr>
            <a:solidFill xmlns:a="http://schemas.openxmlformats.org/drawingml/2006/main">
              <a:srgbClr val="4C7DFF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Suffix</c:v>
                </c:pt>
                <c:pt idx="1">
                  <c:v>Wildcard</c:v>
                </c:pt>
                <c:pt idx="2">
                  <c:v>Alternation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</c:v>
                </c:pt>
                <c:pt idx="1">
                  <c:v>4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v>V2</c:v>
          </c:tx>
          <c:spPr>
            <a:solidFill xmlns:a="http://schemas.openxmlformats.org/drawingml/2006/main">
              <a:srgbClr val="F59E0B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Suffix</c:v>
                </c:pt>
                <c:pt idx="1">
                  <c:v>Wildcard</c:v>
                </c:pt>
                <c:pt idx="2">
                  <c:v>Alternation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4</c:v>
                </c:pt>
                <c:pt idx="1">
                  <c:v>4</c:v>
                </c:pt>
                <c:pt idx="2">
                  <c:v>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F8FAF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0445E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DCE7F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1422B-57B2-4BE4-AA47-4AFE35F3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F0A4C-0848-478A-8AEB-6BD395C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B3CFB-038B-4694-8B56-8D73FD39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A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8415B-7309-442B-B041-7311F412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COMPILER DESIGN · PROJECT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10A9A-69F2-4C35-8608-8C0D404E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Regex Matching</a:t>
            </a:r>
          </a:p>
          <a:p xmlns:a="http://schemas.openxmlformats.org/drawingml/2006/main">
            <a:pPr>
              <a:defRPr sz="40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Engine V2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5016C-B043-413C-8555-00EE2850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From Thompson NFA to lazy DFA, symbolic minimization, and measured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9FF6E-2AB2-4663-8C03-59835394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8956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 feature/v2-regex-engine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6347C-0A9F-4BF4-91C9-88D9125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91050"/>
            <a:ext cx="2324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243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verified at  d09673e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9B0FF-5038-42FB-96A7-EB4BE359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Review package · 28 October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EEECA-A495-4F1D-B4CD-C80EF72D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386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C3048-9518-4C74-AAC8-3A40B0DA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43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V2 tests passed</a:t>
            </a:r>
          </a:p>
        </p:txBody>
      </p:sp>
    </p:spTree>
    <p:extLst>
      <p:ext uri="{BB962C8B-B14F-4D97-AF65-F5344CB8AC3E}">
        <p14:creationId xmlns:p14="http://schemas.microsoft.com/office/powerpoint/2010/main" val="442623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C5B41-1C81-43DD-9229-063F21F8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39F30-1A2F-47E5-9B59-56D32D2F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EXECUTIVE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E04F6-5AC9-481C-ACB6-A5DD132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What changed — and what the measurements say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1CF8C-537E-4DAF-AEA3-917FCF59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10CAE-5D45-4D88-9E75-D7C71F29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C1748-5234-4C41-A8AA-618BA0C1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6E72C-E314-486C-A07C-45A78660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V2 tests passed independently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C32E3-C252-4988-816F-AEC34CAE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954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C7DFF"/>
                </a:solidFill>
                <a:latin typeface="Arial"/>
                <a:ea typeface="Arial"/>
                <a:cs typeface="Arial"/>
              </a:rPr>
              <a:t>8 →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96B09-B166-460E-BDC4-B98410DB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479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Complete DFA states in the live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FF111-D12D-4304-8030-03ABF530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954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3.45–4.55×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65299-8D46-4EE9-9D92-C7F34804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Slower V2 median matching on shared syntax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1E33C-90AA-458D-BA58-E608D041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0287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DF7DF-0A3A-4455-957C-487C8A63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B55C8-C386-484F-83A8-E51EFED6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416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28F74-CAE0-4719-B087-D424E614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9550"/>
            <a:ext cx="416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Character classes, ranges, negation, numeric quantifiers, deterministic simulation, minimization, structured errors, and reproducible analysis.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12FF9-D545-481A-80BA-3B4E8A88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909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584B6-816E-4679-A8C4-FA728EEA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162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Fairness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72C8D-6B60-4AE8-BC08-B8FDF5B2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4162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V1/V2 ratios use only shared syntax, identical inputs, fresh processes, alternating order, warmups, and the same interpreter.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6E082-709B-4094-B654-3C82CB62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Bottom line: broader semantics are verified; matching performance is the next optimization target.</a:t>
            </a:r>
          </a:p>
        </p:txBody>
      </p:sp>
    </p:spTree>
    <p:extLst>
      <p:ext uri="{BB962C8B-B14F-4D97-AF65-F5344CB8AC3E}">
        <p14:creationId xmlns:p14="http://schemas.microsoft.com/office/powerpoint/2010/main" val="155117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26306C-9AE7-4AFF-8A29-D968D814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131D2-F303-4D6F-B309-EE724E14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1D68E-33F5-4777-947B-59B57DD0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One engine, two deliberate execution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01E5B-25B5-4974-8812-66FE962C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ABA76-93B9-4232-99B9-DD1A61CB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6A0C3-01C3-45D9-82E3-93A4C066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4C7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C0AF6-FD3C-4DF4-A50A-7BCB2AF4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C7DFF"/>
                </a:solidFill>
                <a:latin typeface="Arial"/>
                <a:ea typeface="Arial"/>
                <a:cs typeface="Arial"/>
              </a:rPr>
              <a:t>Regex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8DA8C-73A2-41D6-973D-A5AF056C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parser + 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05057-7874-4B20-94BA-46380B04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90700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EE2FD-B057-4C54-8448-0C8EF956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002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NFA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E8699-503C-49E3-B633-EA7191CF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Thompson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8FF3F-9A7C-49BF-811E-F95B2227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90700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4C7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E096A-A03B-4578-8460-94CF01DF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C7DFF"/>
                </a:solidFill>
                <a:latin typeface="Arial"/>
                <a:ea typeface="Arial"/>
                <a:cs typeface="Arial"/>
              </a:rPr>
              <a:t>Lazy DFA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38081-7BD7-4F48-B149-E6BA7DAE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on demand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D41A6-40B1-454F-9778-A68BF889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2000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40CAF-683F-4378-A121-2C007822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2C795-AB4C-4697-9558-31EF5055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full string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8AB69-84D5-418F-83E9-ACDCBC23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526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4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8088C-0D80-47CD-9C18-D9EB43E1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1526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4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8CD10-5025-41C4-A461-985A11E9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526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4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13DF95-7CA8-40A9-A41A-F107515E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38450"/>
            <a:ext cx="9525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CD610-917A-43D9-9971-2D05037B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52800"/>
            <a:ext cx="276225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4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F25733-D456-4653-9069-0E7EF246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3886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842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2168CF-02F2-41D6-A92C-4245E508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Complete DFA → partition refinement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0E026-0C40-4CE4-A71B-11636E22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optional · bounded · visualization + analysis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F818F-1574-4874-B659-496A6C6A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Simulation and diagnostics observe both paths without changing matching semantics.</a:t>
            </a:r>
          </a:p>
        </p:txBody>
      </p:sp>
    </p:spTree>
    <p:extLst>
      <p:ext uri="{BB962C8B-B14F-4D97-AF65-F5344CB8AC3E}">
        <p14:creationId xmlns:p14="http://schemas.microsoft.com/office/powerpoint/2010/main" val="2011867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081443-8330-4A83-BDF8-3D13F5C4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315CC-45D2-4E0E-BD29-5B04E613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V2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7C789-CB24-4BB0-8AD0-239ABDFA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parser now expresses richer regular languages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234CA-DD28-4F5C-A15C-744019B8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FB1A7-60EF-4FE8-9AEE-BEEC18FF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EF767-1641-4FD8-842C-E2431180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7DFF"/>
                </a:solidFill>
                <a:latin typeface="Arial"/>
                <a:ea typeface="Arial"/>
                <a:cs typeface="Arial"/>
              </a:rPr>
              <a:t>[A-Za-z]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CC6FF-EE07-4B46-AD01-07E0C077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81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positive class + ranges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FA67F-08DD-4728-BE45-D6232F43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one code point from the union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1DF3C-CD2E-4EE9-823F-11F13EF8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144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568C5-73E4-4350-8086-EB958E87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[^0-9]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06038-0F65-4F3E-A6DC-2A08E5FF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negated class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65BBE-5BBD-4CA1-8A3B-4B824B66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one code point outside the class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8B062-9608-40AA-9AC0-BFA59EA4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0144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09243-E10E-4B84-8220-C19F61D6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7DFF"/>
                </a:solidFill>
                <a:latin typeface="Arial"/>
                <a:ea typeface="Arial"/>
                <a:cs typeface="Arial"/>
              </a:rPr>
              <a:t>x{3}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658BF-6E98-4561-A7DF-4AF56572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exact repetition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78F9E-2C3A-4AAA-9275-C325C76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three concatenated copies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D7B6A-4997-4C5A-B07D-60BE075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0144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B7D62-EA27-4175-9025-9F9361E5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x{2,5}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D4B85-A521-4952-9D4E-9D6148BD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24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bounded repetition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2BA64-2D14-4BB9-9B05-3661434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two required, three optional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8E465-33FC-4E4C-989E-1D04CEE8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0144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B0427-BA4D-41AE-A82F-AB6E86D7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7DFF"/>
                </a:solidFill>
                <a:latin typeface="Arial"/>
                <a:ea typeface="Arial"/>
                <a:cs typeface="Arial"/>
              </a:rPr>
              <a:t>x{2,}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E44E4-4A2A-4317-9632-DAD30AB7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open upper bound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EFF2F-56D6-47C6-935B-1DCD71B2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two required, then Kleene star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02386-A7A9-4C7B-A9D4-9B9CAC55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10144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083798-3F6A-47A8-BCCF-72E1F3F5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43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Exact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93B3C-3D04-49A0-BE94-B0BA6AAC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435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Full-string matching only; no anchors, captures, lookaround, backreferences, flags, or substring search.</a:t>
            </a:r>
          </a:p>
        </p:txBody>
      </p:sp>
    </p:spTree>
    <p:extLst>
      <p:ext uri="{BB962C8B-B14F-4D97-AF65-F5344CB8AC3E}">
        <p14:creationId xmlns:p14="http://schemas.microsoft.com/office/powerpoint/2010/main" val="945129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E83FA-957C-43F5-B556-1E532BB6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C8C71-B7FB-4E7A-A290-DF3D783D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FF8DC-EE20-4C15-8CC1-65DA03E1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V2 generalizes the transition alphabet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99B1A-5BBB-4C30-BF9A-BA50A3CE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09577-6E57-4945-AC93-7CB40F4B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1061A-BD87-462C-A695-2A55D899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87B00-B137-456A-9FB7-44F347E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Thompson construction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58EEB-45DD-40C9-A11A-7205B1DA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002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AST nodes become ε-NFA fragments with one start and one accept interface.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3FF71-8512-43BB-ADC5-66F3153F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B7E10-C9CE-4032-9D89-2A94DE2E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Lazy subset 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3D8D4-23D4-4006-A750-D7119C2A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Only DFA subsets reached by the actual input are created and cached.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D403A-8F67-4D5D-BBD4-0E51915B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E5A3F-62AF-4C36-926D-56152E96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Symbolic equivalence classes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D5B8E-3CF5-459A-AEB7-A30431FB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Characters with identical transition signatures share one compact input class.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2F58C-A4BB-4719-85C6-6C173E2C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AA90B-DD0E-4714-8983-4A7953A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Partition refinement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504FB-C33B-4DB6-8F18-E0BCD8C4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863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Accepting and non-accepting groups split until every class has stable destinations.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7CB68-C61E-456B-BCB2-E229630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144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2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F5389-F310-4B71-810E-8C1B5F40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816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Performance clue: V2 recomputes a generalized character signature on every match step; V1 uses a cheaper literal-or-wildcard key.</a:t>
            </a:r>
          </a:p>
        </p:txBody>
      </p:sp>
    </p:spTree>
    <p:extLst>
      <p:ext uri="{BB962C8B-B14F-4D97-AF65-F5344CB8AC3E}">
        <p14:creationId xmlns:p14="http://schemas.microsoft.com/office/powerpoint/2010/main" val="320325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1C1956-787D-4B38-A256-058AD01A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3C6D7-DC49-467A-8472-2174F19E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E9B2A-D6D8-4709-A3EB-2BA7C668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Fair V1/V2 protocol — same language, same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1CFA2-14B4-41D9-9C67-ADFB145B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33DA4-C43C-49FB-B082-99E1DBE5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474F0-1C0E-4550-ACD5-74DCEC02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324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4C353-161E-4D2C-9A31-E473DF5B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Isolation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1C809-40F9-4322-A7C6-C987804C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Fresh process for every version, workload, and 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47334-7069-4DBB-83BA-8223E357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19250"/>
            <a:ext cx="2324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F6183-4A4A-46DA-98FE-AA89913C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478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Ordering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E2681-E6DD-4551-A242-A44B1ED7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5 rounds; V1-first and V2-first order alternated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A90E9-45FF-4DA9-A564-EF575CCD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19250"/>
            <a:ext cx="2324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F0648-CC99-47FE-8930-F3041359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Timing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B86F1-68FD-4372-BF70-E52AB0DB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10 warmups + 40 matches per round = 200 samples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77EB6-0BE9-44BF-9BDB-1010E405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3241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2C1F5-0589-4D70-A8FF-915F0837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478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820B9-DB87-4741-8DB0-D16A9E10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tracemalloc peak + process maximum RSS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BC689-BE89-42ED-8EE2-79C3F0AE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Shared-syntax workloads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E1F9D-E357-49C8-9A31-666F6FA8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66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3A6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(a|b)*abb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E0EA4-D916-4365-8EFB-3A083640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719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4,003 chars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DAF61-6096-433A-8659-1A563488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71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suffix language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3C27F-7C09-43A6-976B-EFC82EC6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66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0243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a.*z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BA636-E993-47E2-BEC0-A9B2A7D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62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4,002 chars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97B06-D6D7-46D8-B364-8427E691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625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wildcard scan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D9B75-374C-495B-B85C-9569C4BA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266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3A6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(ab|ac|db|dc)*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309A2-D156-463C-9D66-CA0E5D32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53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4,000 chars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0957EB-F7A7-43A5-B786-FD2CF175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530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alternation loop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B6350F-8749-40F5-8526-701164C9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9E0B"/>
                </a:solidFill>
                <a:latin typeface="Arial"/>
                <a:ea typeface="Arial"/>
                <a:cs typeface="Arial"/>
              </a:rPr>
              <a:t>Excluded from ratios: [A-Za-z0-9_]{4,32} and [^,]{1,1000} because V1 cannot parse them.</a:t>
            </a:r>
          </a:p>
        </p:txBody>
      </p:sp>
    </p:spTree>
    <p:extLst>
      <p:ext uri="{BB962C8B-B14F-4D97-AF65-F5344CB8AC3E}">
        <p14:creationId xmlns:p14="http://schemas.microsoft.com/office/powerpoint/2010/main" val="22244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F502F-9C7B-4062-B39A-7BB8E17E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546CA-0ACE-40FF-896C-9D25E0A7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MEASURED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463C6-EED5-4676-B331-26A180C1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V2 matching is slower on all shared workloads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FA990-2B49-48D2-BF45-AB3E2AC6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0F2EF-1371-443E-8E9C-69B587FD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A9371D8-9127-4EDC-B5E9-5EC2A98726A6}"/>
              </a:ext>
            </a:extLst>
          </p:cNvPr>
          <p:cNvGraphicFramePr/>
          <p:nvPr/>
        </p:nvGraphicFramePr>
        <p:xfrm>
          <a:off xmlns:a="http://schemas.openxmlformats.org/drawingml/2006/main" x="723900" y="1466850"/>
          <a:ext xmlns:a="http://schemas.openxmlformats.org/drawingml/2006/main" cx="790575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f90a5204ca4b2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380BB-29D5-48BB-8C68-55559E7C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14500"/>
            <a:ext cx="2381250" cy="3333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553E4-0B85-48B4-875B-EF3F4275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812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3.45×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358CB-8C15-41D1-A266-ED58B42A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336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suffix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CD171-E34E-41E1-9EAD-520178AF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4.55×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5606C-AF3B-41BE-A205-B70BDDF1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052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wildcard scan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C80F0-7CAA-4645-A1E3-5973E862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243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4.01×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9BE23-89DC-4A2E-92A3-6574524E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alternation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A7586-E17A-4A02-A3CF-95B3FD16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Lower is better · medians from 200 samples per version/workload</a:t>
            </a:r>
          </a:p>
        </p:txBody>
      </p:sp>
    </p:spTree>
    <p:extLst>
      <p:ext uri="{BB962C8B-B14F-4D97-AF65-F5344CB8AC3E}">
        <p14:creationId xmlns:p14="http://schemas.microsoft.com/office/powerpoint/2010/main" val="15090305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EA43A-CB9C-414A-B25E-C1868B3F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AC3CD-7096-4415-868B-013A916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MEASURED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888B0-8928-4180-9511-DC298667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State counts are equal; process memory is effectively flat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602C6-6F7D-4091-BD22-DE686D4B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B811E-F4EB-4C00-B919-E5743019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2C4D793-D149-4C1A-AD65-1B9252A3A1F9}"/>
              </a:ext>
            </a:extLst>
          </p:cNvPr>
          <p:cNvGraphicFramePr/>
          <p:nvPr/>
        </p:nvGraphicFramePr>
        <p:xfrm>
          <a:off xmlns:a="http://schemas.openxmlformats.org/drawingml/2006/main" x="666750" y="1562100"/>
          <a:ext xmlns:a="http://schemas.openxmlformats.org/drawingml/2006/main" cx="5334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d868eb921d42d1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E794EEB-0CA5-4575-93D0-5D002AE6CAFD}"/>
              </a:ext>
            </a:extLst>
          </p:cNvPr>
          <p:cNvGraphicFramePr/>
          <p:nvPr/>
        </p:nvGraphicFramePr>
        <p:xfrm>
          <a:off xmlns:a="http://schemas.openxmlformats.org/drawingml/2006/main" x="6191250" y="1562100"/>
          <a:ext xmlns:a="http://schemas.openxmlformats.org/drawingml/2006/main" cx="52863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8a71f5a7004c0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6AA84-FEF0-4342-905B-1D1C263C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435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RSS differences are below 0.3%; equal state counts isolate the slowdown to per-character work, not state growth.</a:t>
            </a:r>
          </a:p>
        </p:txBody>
      </p:sp>
    </p:spTree>
    <p:extLst>
      <p:ext uri="{BB962C8B-B14F-4D97-AF65-F5344CB8AC3E}">
        <p14:creationId xmlns:p14="http://schemas.microsoft.com/office/powerpoint/2010/main" val="15061048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4EE4EA-21A3-4C97-A3D8-169ADD20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4DA07-620A-442E-B9E5-711B51B4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79EC3-78F4-47EF-A384-30C77AD4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Equivalent complete-DFA states collapse into four partitions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3C218-B773-45F3-A675-843D8C12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22525-B863-43E2-B120-E81F72D2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85E91-5300-45EB-849A-43D9E25F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CE7F7"/>
                </a:solidFill>
                <a:latin typeface="Arial"/>
                <a:ea typeface="Arial"/>
                <a:cs typeface="Arial"/>
              </a:rPr>
              <a:t>Complete DFA · 8 reachable states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583AC-00F0-42FC-95D4-BE248DD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28575">
            <a:solidFill>
              <a:srgbClr val="4C7DFF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E1B76-CDF0-4B7E-A4CC-60D3C05F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0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28575">
            <a:solidFill>
              <a:srgbClr val="2DD4BF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634C4-39FD-4EC2-A213-E99DA618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28575">
            <a:solidFill>
              <a:srgbClr val="2DD4BF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39CA4-8D60-4CC9-916E-82881E38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28575">
            <a:solidFill>
              <a:srgbClr val="AAB6C7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5B57C-1755-47B3-B90B-07D36510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2857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EFEB8-CF6B-4BDC-BF0F-2D4743B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2857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DA6C6-819D-4C7F-89AF-48BA873C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2857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AEF48-502E-4E4C-9C24-09D54AF5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24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2D"/>
          </a:solidFill>
          <a:ln xmlns:a="http://schemas.openxmlformats.org/drawingml/2006/main" w="2857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5121B-52A3-4426-B9E1-DF2F4C9C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14675"/>
            <a:ext cx="8382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44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D042F-31B4-4CB4-9A0F-517B76D0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partition</a:t>
            </a:r>
          </a:p>
          <a:p xmlns:a="http://schemas.openxmlformats.org/drawingml/2006/main">
            <a:pPr algn="ctr">
              <a:defRPr sz="112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refinement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FFFB3-0F75-4D1B-830D-9DEAEAC5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CE7F7"/>
                </a:solidFill>
                <a:latin typeface="Arial"/>
                <a:ea typeface="Arial"/>
                <a:cs typeface="Arial"/>
              </a:rPr>
              <a:t>Minimized DFA · 4 states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63377-87B6-4E42-8724-3B332B59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1790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4C7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0C3AA4-2C75-4531-8BAA-58BC9150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C7DFF"/>
                </a:solidFill>
                <a:latin typeface="Arial"/>
                <a:ea typeface="Arial"/>
                <a:cs typeface="Arial"/>
              </a:rPr>
              <a:t>M0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27CB0-0C6E-4597-9ED1-889EB02C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D0 · start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64C86-7636-4DFD-873A-7A47EBE2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14550"/>
            <a:ext cx="1790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C8B47-C767-4779-BB2D-67BC8362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C9DCCB-60AD-4C4F-A96B-18F2C3FC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D1 + D3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9C937-379C-4DC7-99D0-236E31FD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1790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AAB6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0067D3-B620-491D-B4D1-AE63A6B7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576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254E3-7E8D-4DB4-99F0-772BDA92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D2 · dead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8AD88-2B24-4D7D-A1B3-35A48A28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86200"/>
            <a:ext cx="1790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8F8D80-7305-4847-B9C2-3DE556F6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3E5BE-DFC4-40AD-B05B-5BA61FD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386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D4 + D5 + D6 + D7 · accept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9EC50F-8B21-4C65-8E32-83BF7ED3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29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Why it works: after a or d, the machine accepts the same suffix set — b or c.</a:t>
            </a:r>
          </a:p>
        </p:txBody>
      </p:sp>
    </p:spTree>
    <p:extLst>
      <p:ext uri="{BB962C8B-B14F-4D97-AF65-F5344CB8AC3E}">
        <p14:creationId xmlns:p14="http://schemas.microsoft.com/office/powerpoint/2010/main" val="1924699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29584-7F64-481E-A03D-F7173320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5828C-19E7-43A3-97BD-37650DB0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92CB4-CD8D-49DE-87CF-66048974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Run the script, then switch the dashboard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BD04F-E71E-45CD-BD05-D1850FCB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570A6-88CD-4FD1-83A2-57222017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4F483-B2B0-44A6-A950-A13040EE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248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9BADF-4A9E-4024-987A-0BED72BC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3829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cd /Users/shrey/Documents/compiler/project</a:t>
            </a:r>
          </a:p>
          <a:p xmlns:a="http://schemas.openxmlformats.org/drawingml/2006/main">
            <a:pPr>
              <a:defRPr sz="12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./.venv/bin/python scripts/dfa_minimization_demo.py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F06BC-9BD9-4826-A0A0-E5D9BA5B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4FAF1-5C30-4D24-8E03-91DDD0C3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8 complete states → 4 minimized states</a:t>
            </a:r>
          </a:p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50.0% reduction · 5 symbolic classes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A9FBF-9B66-4A5A-A858-B42E7C95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58F45-2873-4EA1-8B5B-7A44F408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MATCH  ab · ac · db · dc</a:t>
            </a:r>
          </a:p>
          <a:p xmlns:a="http://schemas.openxmlformats.org/drawingml/2006/main">
            <a:pPr>
              <a:defRPr sz="135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NO MATCH  aa · cb · abc · empty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34F25-6ECE-4A5E-A068-098D4330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6172200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D6670-C50C-4106-B5D2-2483E0CE4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a60078bb04ba0"/>
          <a:stretch xmlns:a="http://schemas.openxmlformats.org/drawingml/2006/main"/>
        </p:blipFill>
        <p:spPr>
          <a:xfrm xmlns:a="http://schemas.openxmlformats.org/drawingml/2006/main">
            <a:off x="5700501" y="1619250"/>
            <a:ext cx="5210598" cy="39243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9287E-B535-4ADB-B7F2-C37EA632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48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Fallback evidence captured from the local dashboard</a:t>
            </a:r>
          </a:p>
        </p:txBody>
      </p:sp>
    </p:spTree>
    <p:extLst>
      <p:ext uri="{BB962C8B-B14F-4D97-AF65-F5344CB8AC3E}">
        <p14:creationId xmlns:p14="http://schemas.microsoft.com/office/powerpoint/2010/main" val="6814917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EA317-0906-4DD5-9F93-59567205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833D-971D-4332-BE02-DB806CA3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ENGINEERING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38DCE-C8AB-4515-8BC3-364C745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Budgets bound expansion; limitations remain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6D3AF-9E0A-44A6-85AB-2DC76A3B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E22AE-1468-4095-A1C0-FC4B0B24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BA328-1B2F-4ADB-A03C-3ED68199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50,000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D4E42-16B8-48FF-BEC5-C1D3767C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expanded NFA states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A48FF-271C-4FBF-AB2B-030F5D8D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81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20,000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BF150-24E6-4E5D-AE00-646C7B60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lazy-DFA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02173-98FD-45FE-863E-6009CC45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81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5,000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DA055-F158-43C5-A2F1-4CB92FBF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19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minimization input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32EAC-503F-4AC5-9380-120B1B1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2,048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7CDB5-6BF1-44EA-8564-FD953029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symbolic input classes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FE038-9043-447E-A4F9-F587AAFF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2,000,000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B1AD3-C3B9-45E2-92C7-14BC327A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67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input code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EAFBA-9FBF-457A-B0BC-3782AC34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289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FB1C4-6111-493F-BC00-7BFAF4AB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67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simulation display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DE62E-D051-4559-8684-3AE4EC63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0144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8BA60-9BAC-41DA-9640-DC8B1D23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989A5-C2C1-4A84-AEFA-FA01C04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Language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6027F-678C-48D7-AC1A-CD2A1FBE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Full-string matching only; no anchors, captures, lookaround, backreferences, flags, or substring search.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48050-1311-4157-805A-68EDFB0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0E284-5E94-45B7-960D-3A77925C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Operational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823E2-C404-42F7-AEF3-EEE7176E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The local FastAPI dashboard has no authentication or rate limiting; the repository has no configured CI workflow.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DDDCC-00F8-4A8C-94DE-5B260A9B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CE7F7"/>
                </a:solidFill>
                <a:latin typeface="Arial"/>
                <a:ea typeface="Arial"/>
                <a:cs typeface="Arial"/>
              </a:rPr>
              <a:t>Optimization candidate: cache signatures by symbolic input class or add a literal fast path, then rerun the identical protocol.</a:t>
            </a:r>
          </a:p>
        </p:txBody>
      </p:sp>
    </p:spTree>
    <p:extLst>
      <p:ext uri="{BB962C8B-B14F-4D97-AF65-F5344CB8AC3E}">
        <p14:creationId xmlns:p14="http://schemas.microsoft.com/office/powerpoint/2010/main" val="3856787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75B7B-3650-4235-81E0-098CFFD2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AF9E0-5E30-4084-9D04-2AE3C848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REVIEW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47494-D990-45DB-B185-1F106180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Evidence, commands, and the next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B1CF3-AFAD-4519-81CD-7C9C8441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9675"/>
            <a:ext cx="10648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6320E-40C8-41D9-A9AC-8F9F7601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AB6C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2A39B-D18C-4CFD-87F2-7BA5F766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4C7D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4C7DFF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E71D6-BBCF-422A-B9D3-A492D705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V1 tests at 09de2a6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80079-32BB-4EDE-A1E8-3CBD4EE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002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ECC08-80F5-40F9-87D8-1386CCE8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V2 tests at d09673e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89BFA-88E8-4CCB-99C3-23E75C82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D248C-31ED-4393-B27F-29845144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AB6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6C7"/>
                </a:solidFill>
                <a:latin typeface="Arial"/>
                <a:ea typeface="Arial"/>
                <a:cs typeface="Arial"/>
              </a:rPr>
              <a:t>state reduction in live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EC03C-3BB5-400F-8F83-9B1C2F1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0287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0C1B2D"/>
          </a:solidFill>
          <a:ln xmlns:a="http://schemas.openxmlformats.org/drawingml/2006/main" w="9525">
            <a:solidFill>
              <a:srgbClr val="3044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DFFAC-E2DA-41FD-9F20-4E2541CB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Reproduce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7F779-4FEB-426F-A107-52089BA5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PYTHONDONTWRITEBYTECODE=1 ./.venv/bin/python -m pytest -q -p no:cacheprovider</a:t>
            </a:r>
          </a:p>
          <a:p xmlns:a="http://schemas.openxmlformats.org/drawingml/2006/main">
            <a: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./.venv/bin/python scripts/dfa_minimization_demo.py</a:t>
            </a:r>
          </a:p>
          <a:p xmlns:a="http://schemas.openxmlformats.org/drawingml/2006/main">
            <a:pPr>
              <a:defRPr sz="1200" b="0">
                <a:solidFill>
                  <a:srgbClr val="DCE7F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F7"/>
                </a:solidFill>
                <a:latin typeface="Arial"/>
                <a:ea typeface="Arial"/>
                <a:cs typeface="Arial"/>
              </a:rPr>
              <a:t>./.venv/bin/python -m uvicorn server.main:app --reload --port 8008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F6DB6-4C99-4CB8-93C6-45EF235B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Decision for the next iteration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BF2B0-E021-47D5-AC15-A821AE99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Keep V2 semantics; optimize the character-signature hot path; rerun the frozen comparison before making any speed claim.</a:t>
            </a:r>
          </a:p>
        </p:txBody>
      </p:sp>
    </p:spTree>
    <p:extLst>
      <p:ext uri="{BB962C8B-B14F-4D97-AF65-F5344CB8AC3E}">
        <p14:creationId xmlns:p14="http://schemas.microsoft.com/office/powerpoint/2010/main" val="2140068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2026-10-28T04:41:19.5150000Z</dcterms:created>
  <dcterms:modified xsi:type="dcterms:W3CDTF">2026-10-28T04:41:19.5150000Z</dcterms:modified>
</coreProperties>
</file>